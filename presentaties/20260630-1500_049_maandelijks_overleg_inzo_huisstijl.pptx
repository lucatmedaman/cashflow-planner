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Verantwoorde IC-dagen</c:v>
                </c:pt>
              </c:strCache>
            </c:strRef>
          </c:tx>
          <c:spPr>
            <a:solidFill>
              <a:srgbClr val="3B6E5C"/>
            </a:solidFill>
            <a:ln w="31750" cap="flat">
              <a:solidFill>
                <a:srgbClr val="3B6E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6E5C"/>
              </a:solidFill>
              <a:ln w="9525" cap="flat">
                <a:solidFill>
                  <a:srgbClr val="3B6E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9201</c:v>
                </c:pt>
                <c:pt idx="1">
                  <c:v>9279</c:v>
                </c:pt>
                <c:pt idx="2">
                  <c:v>9160</c:v>
                </c:pt>
                <c:pt idx="3">
                  <c:v>7360</c:v>
                </c:pt>
                <c:pt idx="4">
                  <c:v>7041</c:v>
                </c:pt>
                <c:pt idx="5">
                  <c:v>6770</c:v>
                </c:pt>
                <c:pt idx="6">
                  <c:v>6734</c:v>
                </c:pt>
                <c:pt idx="7">
                  <c:v>7228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B6570"/>
                  </a:solidFill>
                  <a:latin typeface="Calibri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00"/>
          <c:min val="5800"/>
        </c:scaling>
        <c:delete val="0"/>
        <c:axPos val="l"/>
        <c:majorGridlines>
          <c:spPr>
            <a:ln w="9525" cap="flat">
              <a:solidFill>
                <a:srgbClr val="E3E7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Volume-effect</c:v>
                </c:pt>
              </c:strCache>
            </c:strRef>
          </c:tx>
          <c:spPr>
            <a:solidFill>
              <a:srgbClr val="1218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Daling
2023-1→2025-1</c:v>
                  </c:pt>
                  <c:pt idx="1">
                    <c:v>Herstel YoY
2024-2→2025-2</c:v>
                  </c:pt>
                  <c:pt idx="2">
                    <c:v>Herstel
2025-1→2025-2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-1169</c:v>
                </c:pt>
                <c:pt idx="1">
                  <c:v>26</c:v>
                </c:pt>
                <c:pt idx="2">
                  <c:v>-153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Intensiteit-effect</c:v>
                </c:pt>
              </c:strCache>
            </c:strRef>
          </c:tx>
          <c:spPr>
            <a:solidFill>
              <a:srgbClr val="3B6E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Daling
2023-1→2025-1</c:v>
                  </c:pt>
                  <c:pt idx="1">
                    <c:v>Herstel YoY
2024-2→2025-2</c:v>
                  </c:pt>
                  <c:pt idx="2">
                    <c:v>Herstel
2025-1→2025-2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-1258</c:v>
                </c:pt>
                <c:pt idx="1">
                  <c:v>431</c:v>
                </c:pt>
                <c:pt idx="2">
                  <c:v>646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B657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Verantwoord / opname</c:v>
                </c:pt>
              </c:strCache>
            </c:strRef>
          </c:tx>
          <c:spPr>
            <a:solidFill>
              <a:srgbClr val="3B6E5C"/>
            </a:solidFill>
            <a:ln w="31750" cap="flat">
              <a:solidFill>
                <a:srgbClr val="3B6E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6E5C"/>
              </a:solidFill>
              <a:ln w="9525" cap="flat">
                <a:solidFill>
                  <a:srgbClr val="3B6E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0.618</c:v>
                </c:pt>
                <c:pt idx="1">
                  <c:v>0.62</c:v>
                </c:pt>
                <c:pt idx="2">
                  <c:v>0.593</c:v>
                </c:pt>
                <c:pt idx="3">
                  <c:v>0.515</c:v>
                </c:pt>
                <c:pt idx="4">
                  <c:v>0.541</c:v>
                </c:pt>
                <c:pt idx="5">
                  <c:v>0.521</c:v>
                </c:pt>
                <c:pt idx="6">
                  <c:v>0.505</c:v>
                </c:pt>
                <c:pt idx="7">
                  <c:v>0.554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Reëel geobserveerd / opname</c:v>
                </c:pt>
              </c:strCache>
            </c:strRef>
          </c:tx>
          <c:spPr>
            <a:solidFill>
              <a:srgbClr val="B3462C"/>
            </a:solidFill>
            <a:ln w="31750" cap="flat">
              <a:solidFill>
                <a:srgbClr val="B346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3462C"/>
              </a:solidFill>
              <a:ln w="9525" cap="flat">
                <a:solidFill>
                  <a:srgbClr val="B346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0.516</c:v>
                </c:pt>
                <c:pt idx="1">
                  <c:v>0.518</c:v>
                </c:pt>
                <c:pt idx="2">
                  <c:v>0.503</c:v>
                </c:pt>
                <c:pt idx="3">
                  <c:v>0.478</c:v>
                </c:pt>
                <c:pt idx="4">
                  <c:v>0.469</c:v>
                </c:pt>
                <c:pt idx="5">
                  <c:v>0.491</c:v>
                </c:pt>
                <c:pt idx="6">
                  <c:v>0.485</c:v>
                </c:pt>
                <c:pt idx="7">
                  <c:v>0.48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B657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"/>
        </c:scaling>
        <c:delete val="0"/>
        <c:axPos val="l"/>
        <c:majorGridlines>
          <c:spPr>
            <a:ln w="9525" cap="flat">
              <a:solidFill>
                <a:srgbClr val="E3E7E4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Verantwoorde IC-dagen / ECMO-casus</c:v>
                </c:pt>
              </c:strCache>
            </c:strRef>
          </c:tx>
          <c:spPr>
            <a:solidFill>
              <a:srgbClr val="B34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11.8</c:v>
                </c:pt>
                <c:pt idx="1">
                  <c:v>27.8</c:v>
                </c:pt>
                <c:pt idx="2">
                  <c:v>39.4</c:v>
                </c:pt>
                <c:pt idx="3">
                  <c:v>71.3</c:v>
                </c:pt>
                <c:pt idx="4">
                  <c:v>41.1</c:v>
                </c:pt>
                <c:pt idx="5">
                  <c:v>7.9</c:v>
                </c:pt>
                <c:pt idx="6">
                  <c:v>7.3</c:v>
                </c:pt>
                <c:pt idx="7">
                  <c:v>50.9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B657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3E7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 1</c:v>
                </c:pt>
              </c:strCache>
            </c:strRef>
          </c:tx>
          <c:spPr>
            <a:solidFill>
              <a:srgbClr val="D8E5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3.7</c:v>
                </c:pt>
                <c:pt idx="1">
                  <c:v>4.3</c:v>
                </c:pt>
                <c:pt idx="2">
                  <c:v>3.9</c:v>
                </c:pt>
                <c:pt idx="3">
                  <c:v>4.6</c:v>
                </c:pt>
                <c:pt idx="4">
                  <c:v>3.7</c:v>
                </c:pt>
                <c:pt idx="5">
                  <c:v>4</c:v>
                </c:pt>
                <c:pt idx="6">
                  <c:v>4.1</c:v>
                </c:pt>
                <c:pt idx="7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SOI 2</c:v>
                </c:pt>
              </c:strCache>
            </c:strRef>
          </c:tx>
          <c:spPr>
            <a:solidFill>
              <a:srgbClr val="A3C2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11.5</c:v>
                </c:pt>
                <c:pt idx="1">
                  <c:v>11.3</c:v>
                </c:pt>
                <c:pt idx="2">
                  <c:v>10.2</c:v>
                </c:pt>
                <c:pt idx="3">
                  <c:v>10.7</c:v>
                </c:pt>
                <c:pt idx="4">
                  <c:v>10</c:v>
                </c:pt>
                <c:pt idx="5">
                  <c:v>11.5</c:v>
                </c:pt>
                <c:pt idx="6">
                  <c:v>11.9</c:v>
                </c:pt>
                <c:pt idx="7">
                  <c:v>9.4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SOI 3</c:v>
                </c:pt>
              </c:strCache>
            </c:strRef>
          </c:tx>
          <c:spPr>
            <a:solidFill>
              <a:srgbClr val="5F8F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22.9</c:v>
                </c:pt>
                <c:pt idx="1">
                  <c:v>26.3</c:v>
                </c:pt>
                <c:pt idx="2">
                  <c:v>25.6</c:v>
                </c:pt>
                <c:pt idx="3">
                  <c:v>25.9</c:v>
                </c:pt>
                <c:pt idx="4">
                  <c:v>22</c:v>
                </c:pt>
                <c:pt idx="5">
                  <c:v>23.4</c:v>
                </c:pt>
                <c:pt idx="6">
                  <c:v>27.4</c:v>
                </c:pt>
                <c:pt idx="7">
                  <c:v>22.3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SOI 4</c:v>
                </c:pt>
              </c:strCache>
            </c:strRef>
          </c:tx>
          <c:spPr>
            <a:solidFill>
              <a:srgbClr val="2A4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5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2022-1</c:v>
                  </c:pt>
                  <c:pt idx="1">
                    <c:v>2022-2</c:v>
                  </c:pt>
                  <c:pt idx="2">
                    <c:v>2023-1</c:v>
                  </c:pt>
                  <c:pt idx="3">
                    <c:v>2023-2</c:v>
                  </c:pt>
                  <c:pt idx="4">
                    <c:v>2024-1</c:v>
                  </c:pt>
                  <c:pt idx="5">
                    <c:v>2024-2</c:v>
                  </c:pt>
                  <c:pt idx="6">
                    <c:v>2025-1</c:v>
                  </c:pt>
                  <c:pt idx="7">
                    <c:v>2025-2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61.9</c:v>
                </c:pt>
                <c:pt idx="1">
                  <c:v>58.1</c:v>
                </c:pt>
                <c:pt idx="2">
                  <c:v>60.3</c:v>
                </c:pt>
                <c:pt idx="3">
                  <c:v>58.8</c:v>
                </c:pt>
                <c:pt idx="4">
                  <c:v>64.3</c:v>
                </c:pt>
                <c:pt idx="5">
                  <c:v>61.1</c:v>
                </c:pt>
                <c:pt idx="6">
                  <c:v>56.6</c:v>
                </c:pt>
                <c:pt idx="7">
                  <c:v>64.9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B657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3E7E4"/>
              </a:solidFill>
              <a:prstDash val="solid"/>
              <a:round/>
            </a:ln>
          </c:spPr>
        </c:majorGridlines>
        <c:numFmt formatCode="0\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999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035040" cy="6035040"/>
          </a:xfrm>
          <a:prstGeom prst="ellipse">
            <a:avLst/>
          </a:prstGeom>
          <a:solidFill>
            <a:srgbClr val="1B26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4023360" cy="4023360"/>
          </a:xfrm>
          <a:prstGeom prst="ellipse">
            <a:avLst/>
          </a:prstGeom>
          <a:solidFill>
            <a:srgbClr val="1B2630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5166360"/>
            <a:ext cx="2651760" cy="2651760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8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 · 8 SEMESTERS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Intensieve Zorgen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Nationaal Percentage Intensieve Zorgen · Drivers van de daling tot 2025-1 en het herstel in 2025-2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geanalyseerd: 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 t/m 2025-2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Bron: 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drill-down exports (8 bestanden), geëxcludeerde stays weggefilterd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 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juni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KERNBOODSCHAP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oogopslag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717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57276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4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76272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 IC-dagen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 dieptepunt 2025-1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138" y="1463040"/>
            <a:ext cx="256717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90138" y="157276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81578" y="2176272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 vs 2024-2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(herstel, YoY)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1636" y="1463040"/>
            <a:ext cx="256717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31636" y="157276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65%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2176272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daling uit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slechts 4 DRG's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3134" y="1463040"/>
            <a:ext cx="256717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73134" y="157276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DRG's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64574" y="2176272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+ beademing/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tracheostomie sturen alles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11091672" cy="2880360"/>
          </a:xfrm>
          <a:prstGeom prst="roundRect">
            <a:avLst>
              <a:gd name="adj" fmla="val 3175"/>
            </a:avLst>
          </a:prstGeom>
          <a:solidFill>
            <a:srgbClr val="EEF3F1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47472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cijfers zeggen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886200"/>
            <a:ext cx="10451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Meerjarige daling, recent herstel.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verantwoorde IC-dagen zakten van ~9.200 (2022) naar ~6.734 (2025-1) en herstelden naar 7.228 in 2025-2.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registratie-/case-mixfenomeen, geen zorgvolume.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reële IC-dagen per opname zijn al 3,5 jaar stabiel (~0,48–0,52); enkel de benchmark-dagen bewegen.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handvol extreme casussen domineert.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DRG's met 40–90 verantwoorde IC-dagen/opname (ECMO 009, tracheo+beademing 004/005, beademing 130) bepalen het totaal; ±5 casussen verzetten honderden dagen.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AANPAK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Databron &amp; methodologie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semesters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745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export per periode, 2022-1 t/m 2025-2. Rij = één verblijf (stay) met DRG, SOI, service line en IC-dagen.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50876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74536" y="176479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Exclusies toegepast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2221992"/>
            <a:ext cx="4745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met “Excluded from calculation = True” zijn weggelaten (≈ 3.000/semester), conform de officiële berekening.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18795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Kernmetriek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45152"/>
            <a:ext cx="4745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 IC-dagen.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4496" y="3931920"/>
            <a:ext cx="538581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74536" y="418795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4645152"/>
            <a:ext cx="4745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= aantal stays × verantwoorde dagen/stay. Splitsing in volume- vs. case-mixeffect, daarna per service line en DRG.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 IC-dagen per semester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178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1417320"/>
            <a:ext cx="3593592" cy="4800600"/>
          </a:xfrm>
          <a:prstGeom prst="roundRect">
            <a:avLst>
              <a:gd name="adj" fmla="val 2545"/>
            </a:avLst>
          </a:prstGeom>
          <a:solidFill>
            <a:srgbClr val="EEF3F1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39328" y="16459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Lezing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69164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339328" y="2148840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Stabiel hoog 2022 → begin 2023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Scherpe breuk in 2023-2 (−20,7% YoY) — te abrupt voor klinische variatie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Verder afglijden tot dieptepunt 2025-1 (6.734)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 in 2025-2 naar 7.228 (+7,3% t.o.v. 2025-1)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versus case-mix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178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1417320"/>
            <a:ext cx="3593592" cy="4800600"/>
          </a:xfrm>
          <a:prstGeom prst="roundRect">
            <a:avLst>
              <a:gd name="adj" fmla="val 2545"/>
            </a:avLst>
          </a:prstGeom>
          <a:solidFill>
            <a:srgbClr val="EEF3F1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39328" y="16459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Interpretatie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69164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339328" y="2148840"/>
            <a:ext cx="300837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Daling = half-half.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≈ −1.169 (−13% stays) en case-mix ≈ −1.258 (dagen/stay 0,59→0,51).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 = vrijwel puur case-mix.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aantal opnames bleef vlak; de verantwoorde dagen/stay sprongen omhoog (0,51→0,55).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herstel komt niet van méér patiënten, maar van de case-mix/severity van een kleine groep zware casussen.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SLEUTELINZICHT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Case-mix beweegt, reële zorg niet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178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1417320"/>
            <a:ext cx="3593592" cy="4800600"/>
          </a:xfrm>
          <a:prstGeom prst="roundRect">
            <a:avLst>
              <a:gd name="adj" fmla="val 2545"/>
            </a:avLst>
          </a:prstGeom>
          <a:solidFill>
            <a:srgbClr val="E4F0EC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39328" y="16459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rode draad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69164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339328" y="2148840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Reële IC-dagen/opname blijven 3,5 jaar nagenoeg vlak (~0,48–0,52).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verantwoorde dagen/opname dalen én herstellen veel sterker.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2025-2 daalt de reële inzet zelfs licht terwijl de benchmark omhoog springt.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A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 swing zit in codering/case-mix, niet in geleverde IC-zorg.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· DALING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DRG-dalers 2023-1 → 2025-1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28032"/>
                <a:gridCol w="1234440"/>
                <a:gridCol w="1417320"/>
                <a:gridCol w="169164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Omschrijving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verant.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dagen/stay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TRACHEOSTOMY WITH MV &gt;96 HOURS WITHOUT 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59,48 → 63,41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TRACHEOSTOMY WITH MV &gt;96 HOURS WITH EXTE…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→ 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74,31 → 73,69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EXTRACORPOREAL MEMBRANE OXYGENATION (ECMO)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39,40 → 7,33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casemix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SYSTEM DIAGNOSIS WITH VENTIL…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→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31,46 → 17,91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gemengd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CORONARY BYPASS WITHOUT AMI OR COMPLEX P…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→ 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 → 2,43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SEPTICEMIA AND DISSEMINATED INFECTIONS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→ 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 → 2,32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gemengd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OBSTRUCTIVE PULMONARY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 → 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 → 0,88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DEFIBRILLATOR IMPLANTS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4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→ 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 → 0,72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gemengd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zwaarste DRG's (005, 004, 009, 130 — tracheostomie/beademing/ECMO) zijn samen ≈ 65% van de totale daling van 2.427 verantwoorde dagen.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· HERSTEL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DRG-stijgers 2025-1 → 2025-2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28032"/>
                <a:gridCol w="1234440"/>
                <a:gridCol w="1417320"/>
                <a:gridCol w="169164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Omschrijving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verant.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dagen/stay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EXTRACORPOREAL MEMBRANE OXYGENATION (ECMO)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 → 50,86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TRACHEOSTOMY WITH MV &gt;96 HOURS WITHOUT 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63,41 → 63,95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CRANIOTOMY EXCEPT TRAUMA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→ 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 → 5,11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→ 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 → 1,10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CRANIOTOMY FOR MULTIPLE SIGNIFICANT TRAUMA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19,66 → 56,54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SYSTEM DIAGNOSIS WITH VENTIL…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17,91 → 19,74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LARGE BOWEL PROCEDURES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→ 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 → 1,57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MODERATELY EXTENSIVE O.R. PROCEDURES FOR…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→ 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 → 2,97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(009) alléén is ≈ 75% van de netto stijging (+494) — gedreven door dagen/casus, niet door volume (dat daalt 12 → 9). Zie volgende slide.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Spotlight: ECMO (DRG 009)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178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1417320"/>
            <a:ext cx="3593592" cy="4800600"/>
          </a:xfrm>
          <a:prstGeom prst="roundRect">
            <a:avLst>
              <a:gd name="adj" fmla="val 2545"/>
            </a:avLst>
          </a:prstGeom>
          <a:solidFill>
            <a:srgbClr val="FBF1D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39328" y="16459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5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een vlag is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69164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339328" y="2148840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39–71 dagen/casus (2023) naar 7,9 en 7,3 in 2024-2 &amp; 2025-1 — en terug naar 50,9 in 2025-2.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Zulke sprongen op een handvol casussen zijn klinisch onwaarschijnlijk.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8A5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Oorzaak van de zeer lage waarden in 2024-2 &amp; 2025-1?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Verdeling verantwoorde dagen per SOI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178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0" y="1417320"/>
            <a:ext cx="3593592" cy="4800600"/>
          </a:xfrm>
          <a:prstGeom prst="roundRect">
            <a:avLst>
              <a:gd name="adj" fmla="val 2545"/>
            </a:avLst>
          </a:prstGeom>
          <a:solidFill>
            <a:srgbClr val="EEF3F1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39328" y="16459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Lezing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69164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339328" y="2148840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4 (zwaarste) levert het leeuwendeel van de verantwoorde IC-dagen.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 is een uitschieter omlaag in SOI 4 (56,6%); 2025-2 springt naar 64,9%.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Zo'n sprong in 6 maanden wijst mee op severity-codering, niet enkel reële casuïstiek.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035040" cy="6035040"/>
          </a:xfrm>
          <a:prstGeom prst="ellipse">
            <a:avLst/>
          </a:prstGeom>
          <a:solidFill>
            <a:srgbClr val="1B26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4023360" cy="4023360"/>
          </a:xfrm>
          <a:prstGeom prst="ellipse">
            <a:avLst/>
          </a:prstGeom>
          <a:solidFill>
            <a:srgbClr val="1B2630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5166360"/>
            <a:ext cx="2651760" cy="2651760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besluiten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18488"/>
            <a:ext cx="530352" cy="530352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6002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Ja, er was een daling — maar ze keerde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476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 IC-dagen daalden ~27% tot 2025-1 en herstelden in 2025-2. Het meest recente semester is dus geen daling maar een opleving.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530352" cy="530352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072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beweging is registratie-, niet zorg-gedreven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54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Reële IC-inzet per opname is al jaren stabiel; enkel de genormeerde benchmark-dagen schommelen via case-mix en codering.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530352" cy="530352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32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142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handvol DRG's stuurt alles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61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Tracheostomie/beademing (004, 005, 130) en ECMO (009) bepalen het totaal; volume- en codeervariatie op enkele casussen verzet honderden dagen.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530352" cy="530352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39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2212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kan een datakwaliteitsprobleem zijn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56869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ECMO-waarde van 2025-1 is vrijwel zeker fout; dieptepunt én herstel zijn er deels door vertekend.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Aanbevelingen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8581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83080"/>
            <a:ext cx="475488" cy="475488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10512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Reconcilieer ECMO (DRG 009)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377440"/>
            <a:ext cx="4105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Verifieer de individuele ECMO-stays van 2025-1 — corrigeer of bevestig de 7,3 dagen/casus. Hoogste prioriteit.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4496" y="1508760"/>
            <a:ext cx="538581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47104" y="1783080"/>
            <a:ext cx="475488" cy="475488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4710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14616" y="1810512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Codeerreview zware beademings-DRG's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214616" y="2377440"/>
            <a:ext cx="4105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004, 005 en 130 over alle semesters op volledigheid en consistente groepering.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8581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251960"/>
            <a:ext cx="475488" cy="475488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79392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 de nationale referentie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846320"/>
            <a:ext cx="4105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 of de NPERCIZ-normpercentages in 2023-2 herijkt zijn; dat verklaart mogelijk de scherpe breuk.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54496" y="3977640"/>
            <a:ext cx="538581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4251960"/>
            <a:ext cx="475488" cy="475488"/>
          </a:xfrm>
          <a:prstGeom prst="ellipse">
            <a:avLst/>
          </a:prstGeom>
          <a:solidFill>
            <a:srgbClr val="3B6E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47104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14616" y="4279392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 casus-niveau, niet totaal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4846320"/>
            <a:ext cx="4105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semestriële opvolging van de ~10–15 extreme IC-casussen; daar zit de volatiliteit én het budget.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METHODOLOGISCHE NOTEN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Voorbehouden bij deze analyse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NPERCIZ — Evaluatie Intensieve Zorgen · 2022-1 t/m 2025-2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Volledigheid 2025-2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653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Aangenomen dat 2025-2 een afgesloten semester is; stay-aantal ligt in lijn met andere periodes, maar te bevestigen.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811512" y="171907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EF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11512" y="17190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GISSING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Oorzaak ECMO-afwijking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34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 (7,3 dagen/casus) is sterk; de exacte oorzaak (fout vs. groepering) vergt inzage per stay.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11512" y="268833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EF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11512" y="268833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5112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Breuk 2023-2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039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 een herijking van de nationale referentie; niet uit deze exports te bevestigen.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11512" y="365760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11512" y="36576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A5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WAARSCHIJNLIJK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SOI-codering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731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Severity-swings kunnen reëel of coderingsgedreven zijn; niet te onderscheiden in deze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11512" y="462686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EF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11512" y="4626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GISSING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34009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E4"/>
            </a:solidFill>
            <a:prstDash val="solid"/>
          </a:ln>
          <a:effectLst>
            <a:outerShdw sx="100000" sy="100000" kx="0" ky="0" algn="bl" rotWithShape="0" blurRad="88900" dist="25400" dir="5400000">
              <a:srgbClr val="12181F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68680" y="5449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Cijfers zelf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7424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aggregaten zijn rechtstreeks uit de 8 exports berekend (excl. geëxcludeerde stays).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11512" y="55961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E4F0E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11512" y="55961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2026-09-14T17:03:01Z</dcterms:created>
  <dcterms:modified xsi:type="dcterms:W3CDTF">2026-09-14T17:03:01Z</dcterms:modified>
</cp:coreProperties>
</file>